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69" r:id="rId6"/>
    <p:sldId id="270" r:id="rId7"/>
    <p:sldId id="271" r:id="rId8"/>
    <p:sldId id="273" r:id="rId9"/>
    <p:sldId id="274" r:id="rId10"/>
    <p:sldId id="275" r:id="rId11"/>
    <p:sldId id="276" r:id="rId12"/>
    <p:sldId id="263" r:id="rId13"/>
    <p:sldId id="264" r:id="rId14"/>
  </p:sldIdLst>
  <p:sldSz cx="12192000" cy="68580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0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80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cs-CZ"/>
          </a:p>
        </p:txBody>
      </p:sp>
      <p:sp>
        <p:nvSpPr>
          <p:cNvPr id="104880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104880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0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58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58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58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第7小组。今天我们汇报的课题是《SiC功率器件研究热点与演进趋势——基于文献计量学分析》。碳化硅作为第三代半导体的核心，在新能源等领域扮演着关键角色。本次研究旨在通过文献计量方法，系统性地梳理该领域的全球研究脉络和前沿热点，为后续研究提供数据参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58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58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69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69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69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为了保证研究的可复现性，我们将所有项目资源都上传到了GitHub。同时，我们在此说明AI工具的使用情况。我们主要利用AI辅助编写代码、润色文本和扩充关键词，但所有核心的学术判断均由我们团队独立完成。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69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69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73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73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73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这是我们小组的分工情况，每位成员都各司其职，共同完成了本次研究。我们认为本项目的亮点在于：构建了高度可复现的工程化流程，采用了定性与定量相结合的分析范式，并且建立了一套可复用的研究框架。我的汇报到此结束，感谢各位老师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73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73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50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44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48745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46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47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53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58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759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60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61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56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74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775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76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77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57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79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780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781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82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83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58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85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1048786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787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1048788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789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90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91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5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49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50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51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9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93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94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60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9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879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879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9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80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54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487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87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55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69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770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71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72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52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53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/>
        </p:txBody>
      </p:sp>
      <p:sp>
        <p:nvSpPr>
          <p:cNvPr id="1048754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55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/>
        </p:txBody>
      </p:sp>
      <p:sp>
        <p:nvSpPr>
          <p:cNvPr id="1048756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38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48739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40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41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42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577" name="AutoShape 3"/>
          <p:cNvSpPr/>
          <p:nvPr/>
        </p:nvSpPr>
        <p:spPr>
          <a:xfrm>
            <a:off x="6096000" y="1524000"/>
            <a:ext cx="54864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0000"/>
              </a:lnSpc>
            </a:pPr>
            <a:r>
              <a:rPr lang="en-US" sz="5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SiC功率器件研究热点与演进趋势</a:t>
            </a:r>
            <a:endParaRPr lang="en-US" sz="1100"/>
          </a:p>
        </p:txBody>
      </p:sp>
      <p:sp>
        <p:nvSpPr>
          <p:cNvPr id="1048578" name="AutoShape 4"/>
          <p:cNvSpPr/>
          <p:nvPr/>
        </p:nvSpPr>
        <p:spPr>
          <a:xfrm>
            <a:off x="6096000" y="3429000"/>
            <a:ext cx="548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2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基于文献计量学分析</a:t>
            </a:r>
            <a:endParaRPr lang="en-US" sz="1100"/>
          </a:p>
        </p:txBody>
      </p:sp>
      <p:sp>
        <p:nvSpPr>
          <p:cNvPr id="1048579" name="AutoShape 5"/>
          <p:cNvSpPr/>
          <p:nvPr/>
        </p:nvSpPr>
        <p:spPr>
          <a:xfrm>
            <a:off x="6096000" y="4572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580" name="AutoShape 6"/>
          <p:cNvSpPr/>
          <p:nvPr/>
        </p:nvSpPr>
        <p:spPr>
          <a:xfrm>
            <a:off x="6096000" y="5080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第7小组</a:t>
            </a:r>
            <a:endParaRPr lang="en-US" sz="1100"/>
          </a:p>
        </p:txBody>
      </p:sp>
      <p:cxnSp>
        <p:nvCxnSpPr>
          <p:cNvPr id="3145728" name="Connector 7"/>
          <p:cNvCxnSpPr/>
          <p:nvPr/>
        </p:nvCxnSpPr>
        <p:spPr>
          <a:xfrm rot="5331254">
            <a:off x="8445500" y="5454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81" name="AutoShape 8"/>
          <p:cNvSpPr/>
          <p:nvPr/>
        </p:nvSpPr>
        <p:spPr>
          <a:xfrm>
            <a:off x="9017000" y="508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组员：林能行、潘儒凤、毛俊钦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李炫浒、张博、刘硕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4-marker"/>
          <p:cNvSpPr>
            <a:spLocks noGrp="1"/>
          </p:cNvSpPr>
          <p:nvPr/>
        </p:nvSpPr>
        <p:spPr>
          <a:xfrm>
            <a:off x="533400" y="419100"/>
            <a:ext cx="95250" cy="952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kicker-4-label"/>
          <p:cNvSpPr>
            <a:spLocks noGrp="1"/>
          </p:cNvSpPr>
          <p:nvPr/>
        </p:nvSpPr>
        <p:spPr>
          <a:xfrm>
            <a:off x="723900" y="3238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 QUESTIONS</a:t>
            </a:r>
            <a:endParaRPr sz="900" b="1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" y="7429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研究问题进一步细化</a:t>
            </a:r>
            <a:endParaRPr sz="22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239500" y="4000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04</a:t>
            </a:r>
            <a:endParaRPr sz="900" b="0">
              <a:solidFill>
                <a:srgbClr val="64748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62635" y="1467485"/>
            <a:ext cx="7160895" cy="146621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90600" y="1631950"/>
            <a:ext cx="17145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RQ1 研究热点</a:t>
            </a:r>
            <a:endParaRPr sz="142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90600" y="2209800"/>
            <a:ext cx="660781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SiC 功率器件研究的核心主题群是什么？哪些主题体现器件性能、可靠性和应用落地？</a:t>
            </a:r>
            <a:endParaRPr sz="1125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90600" y="27432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证据：聚类图 + 关键词同义词表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 flipH="1" flipV="1">
            <a:off x="761365" y="3086100"/>
            <a:ext cx="716280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22020" y="3220720"/>
            <a:ext cx="1967230" cy="155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 演进趋势</a:t>
            </a:r>
            <a:endParaRPr sz="142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90600" y="3666490"/>
            <a:ext cx="897382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2015-2025 年热点如何迁移？是否存在从基础器件向系统化应用的转变？</a:t>
            </a:r>
            <a:endParaRPr sz="1125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47725" y="4177030"/>
            <a:ext cx="3140075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证据：时间线图 + 年度发文趋势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62000" y="4554220"/>
            <a:ext cx="7162165" cy="147701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22655" y="4685030"/>
            <a:ext cx="1782445" cy="1924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RQ3 合作格局</a:t>
            </a:r>
            <a:endParaRPr sz="142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990600" y="5083175"/>
            <a:ext cx="694436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领域是否形成稳定合作网络？核心作者/团队是否集中，边缘团队是否仍活跃？</a:t>
            </a:r>
            <a:endParaRPr sz="1125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90600" y="5598160"/>
            <a:ext cx="4000500" cy="2520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证据：作者合作网络图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33400" y="6496050"/>
            <a:ext cx="10191750" cy="9525"/>
          </a:xfrm>
          <a:prstGeom prst="rect">
            <a:avLst/>
          </a:prstGeom>
          <a:solidFill>
            <a:srgbClr val="D9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533400" y="657225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 questions expanded per user request.</a:t>
            </a:r>
            <a:endParaRPr sz="675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5-marker"/>
          <p:cNvSpPr>
            <a:spLocks noGrp="1"/>
          </p:cNvSpPr>
          <p:nvPr/>
        </p:nvSpPr>
        <p:spPr>
          <a:xfrm>
            <a:off x="533400" y="419100"/>
            <a:ext cx="95250" cy="952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kicker-5-label"/>
          <p:cNvSpPr>
            <a:spLocks noGrp="1"/>
          </p:cNvSpPr>
          <p:nvPr/>
        </p:nvSpPr>
        <p:spPr>
          <a:xfrm>
            <a:off x="723900" y="3238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 &amp; METHOD</a:t>
            </a:r>
            <a:endParaRPr sz="900" b="1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" y="7429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检索、清洗、图谱生成和证据解释构成完整复现链条。</a:t>
            </a:r>
            <a:endParaRPr sz="22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239500" y="4000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05</a:t>
            </a:r>
            <a:endParaRPr sz="900" b="0">
              <a:solidFill>
                <a:srgbClr val="64748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5800" y="1657350"/>
            <a:ext cx="7239000" cy="2978785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52500" y="1905000"/>
            <a:ext cx="6667500" cy="2515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TS=("silicon carbide" OR "SiC" OR "SiC technology" OR "SiC application" OR "power device" OR "power semiconductor" OR "SiC MOSFET")</a:t>
            </a:r>
            <a:endParaRPr sz="1350" b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AND TS=("Science research" OR "academic research" OR "CHINA")</a:t>
            </a:r>
            <a:endParaRPr sz="1350" b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AND PY=2015-2025</a:t>
            </a:r>
            <a:endParaRPr sz="1350" b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AND DT=("Article" OR "Review")</a:t>
            </a:r>
            <a:endParaRPr sz="1350" b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AND LA=English</a:t>
            </a:r>
            <a:endParaRPr sz="1350" b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420100" y="1676400"/>
            <a:ext cx="223837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591550" y="1828800"/>
            <a:ext cx="1885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WoS</a:t>
            </a:r>
            <a:endParaRPr sz="2250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591550" y="22288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</a:t>
            </a:r>
            <a:endParaRPr sz="1125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591550" y="24765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 Collection</a:t>
            </a:r>
            <a:endParaRPr sz="7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420100" y="3048000"/>
            <a:ext cx="223837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591550" y="3200400"/>
            <a:ext cx="1885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Python</a:t>
            </a:r>
            <a:endParaRPr sz="2250" b="1">
              <a:solidFill>
                <a:srgbClr val="10B98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591550" y="36004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清洗工具</a:t>
            </a:r>
            <a:endParaRPr sz="1125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591550" y="38481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pandas / numpy</a:t>
            </a:r>
            <a:endParaRPr sz="7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420100" y="4419600"/>
            <a:ext cx="223837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591550" y="4572000"/>
            <a:ext cx="1885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CiteSpace</a:t>
            </a:r>
            <a:endParaRPr sz="2250" b="1">
              <a:solidFill>
                <a:srgbClr val="F59E0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591550" y="49720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图谱工具</a:t>
            </a:r>
            <a:endParaRPr sz="1125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591550" y="52197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聚类、时间线、合作网络</a:t>
            </a:r>
            <a:endParaRPr sz="7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533400" y="6496050"/>
            <a:ext cx="10191750" cy="9525"/>
          </a:xfrm>
          <a:prstGeom prst="rect">
            <a:avLst/>
          </a:prstGeom>
          <a:solidFill>
            <a:srgbClr val="D9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33400" y="657225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config/query.yaml; README.md; requirements.txt.</a:t>
            </a:r>
            <a:endParaRPr sz="675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8-marker"/>
          <p:cNvSpPr>
            <a:spLocks noGrp="1"/>
          </p:cNvSpPr>
          <p:nvPr/>
        </p:nvSpPr>
        <p:spPr>
          <a:xfrm>
            <a:off x="533400" y="419100"/>
            <a:ext cx="95250" cy="952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kicker-8-label"/>
          <p:cNvSpPr>
            <a:spLocks noGrp="1"/>
          </p:cNvSpPr>
          <p:nvPr/>
        </p:nvSpPr>
        <p:spPr>
          <a:xfrm>
            <a:off x="723900" y="3238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FIGURE 1 · CLUSTER MAP</a:t>
            </a:r>
            <a:endParaRPr sz="900" b="1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" y="742950"/>
            <a:ext cx="1044956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聚类图回答</a:t>
            </a:r>
            <a:r>
              <a:rPr>
                <a:sym typeface="+mn-ea"/>
              </a:rPr>
              <a:t>RQ1</a:t>
            </a:r>
            <a:r>
              <a: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：SiC 功率器件研究热点集中在性能、可靠性与系统集成。</a:t>
            </a:r>
            <a:endParaRPr sz="22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239500" y="4000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08</a:t>
            </a:r>
            <a:endParaRPr sz="900" b="0">
              <a:solidFill>
                <a:srgbClr val="64748B"/>
              </a:solidFill>
              <a:latin typeface="Aptos Mono"/>
              <a:ea typeface="Aptos Mono"/>
              <a:cs typeface="Aptos Mono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549979"/>
            <a:ext cx="7048500" cy="4367642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7924800" y="1562100"/>
            <a:ext cx="3190875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191500" y="18097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</a:t>
            </a:r>
            <a:endParaRPr sz="16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椭圆 42"/>
          <p:cNvSpPr>
            <a:spLocks noGrp="1"/>
          </p:cNvSpPr>
          <p:nvPr/>
        </p:nvSpPr>
        <p:spPr>
          <a:xfrm>
            <a:off x="8191500" y="2390775"/>
            <a:ext cx="66675" cy="66675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362950" y="2305050"/>
            <a:ext cx="247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热点一：SiC MOSFET 与功率模块，体现器件结构、耐压、开关速度和寄生参数优化。</a:t>
            </a:r>
            <a:endParaRPr sz="1200" b="0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椭圆 44"/>
          <p:cNvSpPr>
            <a:spLocks noGrp="1"/>
          </p:cNvSpPr>
          <p:nvPr/>
        </p:nvSpPr>
        <p:spPr>
          <a:xfrm>
            <a:off x="8191500" y="3286125"/>
            <a:ext cx="66675" cy="66675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362950" y="3200400"/>
            <a:ext cx="247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热点二：可靠性与失效机理，包括热阻、单粒子烧毁、栅氧退化和封装应力。</a:t>
            </a:r>
            <a:endParaRPr sz="1200" b="0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8191500" y="4181475"/>
            <a:ext cx="66675" cy="66675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362950" y="4095750"/>
            <a:ext cx="247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热点三：应用场景，从单器件指标扩展到车用逆变、中压变换、能源系统和工业电源。</a:t>
            </a:r>
            <a:endParaRPr sz="1200" b="0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33400" y="6496050"/>
            <a:ext cx="10191750" cy="9525"/>
          </a:xfrm>
          <a:prstGeom prst="rect">
            <a:avLst/>
          </a:prstGeom>
          <a:solidFill>
            <a:srgbClr val="D9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33400" y="657225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 image: output/聚类图.png.</a:t>
            </a:r>
            <a:endParaRPr sz="675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093075" y="4709160"/>
            <a:ext cx="2936240" cy="1531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“SiC 功率器件研究已从材料与器件基础参数，转向面向产业应用的可靠性、封装和系统级验证。”</a:t>
            </a:r>
            <a:endParaRPr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10-marker"/>
          <p:cNvSpPr>
            <a:spLocks noGrp="1"/>
          </p:cNvSpPr>
          <p:nvPr/>
        </p:nvSpPr>
        <p:spPr>
          <a:xfrm>
            <a:off x="533400" y="419100"/>
            <a:ext cx="95250" cy="952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kicker-10-label"/>
          <p:cNvSpPr>
            <a:spLocks noGrp="1"/>
          </p:cNvSpPr>
          <p:nvPr/>
        </p:nvSpPr>
        <p:spPr>
          <a:xfrm>
            <a:off x="723900" y="3238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FIGURE 2 · TIMELINE</a:t>
            </a:r>
            <a:endParaRPr sz="900" b="1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" y="7429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时间线图回答：热点演进呈现基础性能、可靠性扩展、系统应用三阶段。</a:t>
            </a:r>
            <a:endParaRPr sz="22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239500" y="4000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10</a:t>
            </a:r>
            <a:endParaRPr sz="900" b="0">
              <a:solidFill>
                <a:srgbClr val="64748B"/>
              </a:solidFill>
              <a:latin typeface="Aptos Mono"/>
              <a:ea typeface="Aptos Mono"/>
              <a:cs typeface="Aptos Mono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10" y="1504950"/>
            <a:ext cx="7193915" cy="4445635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058150" y="1619250"/>
            <a:ext cx="295275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058150" y="1619250"/>
            <a:ext cx="57150" cy="9048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267700" y="179070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2015-2018 基础期</a:t>
            </a:r>
            <a:endParaRPr sz="150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267700" y="2171700"/>
            <a:ext cx="25527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关注材料优势、器件参数、开关性能与基础应用可能性。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058150" y="2800350"/>
            <a:ext cx="295275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058150" y="2800350"/>
            <a:ext cx="57150" cy="90487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267700" y="297180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2019-2022 扩展期</a:t>
            </a:r>
            <a:endParaRPr sz="150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267700" y="3352800"/>
            <a:ext cx="25527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可靠性、热管理、失效机理和封装问题开始成为研究焦点。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058150" y="3981450"/>
            <a:ext cx="2952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058150" y="3981450"/>
            <a:ext cx="57150" cy="10668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267700" y="415290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2023-2025 应用期</a:t>
            </a:r>
            <a:endParaRPr sz="150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267700" y="4533900"/>
            <a:ext cx="2552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研究转向中高压模块、车用/能源系统和工程化验证，热点更接近产业部署。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533400" y="6496050"/>
            <a:ext cx="10191750" cy="9525"/>
          </a:xfrm>
          <a:prstGeom prst="rect">
            <a:avLst/>
          </a:prstGeom>
          <a:solidFill>
            <a:srgbClr val="D9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33400" y="657225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 image: output/时间线.png.</a:t>
            </a:r>
            <a:endParaRPr sz="675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7570" y="5610225"/>
            <a:ext cx="10695940" cy="1042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11-marker"/>
          <p:cNvSpPr>
            <a:spLocks noGrp="1"/>
          </p:cNvSpPr>
          <p:nvPr/>
        </p:nvSpPr>
        <p:spPr>
          <a:xfrm>
            <a:off x="533400" y="419100"/>
            <a:ext cx="95250" cy="952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kicker-11-label"/>
          <p:cNvSpPr>
            <a:spLocks noGrp="1"/>
          </p:cNvSpPr>
          <p:nvPr/>
        </p:nvSpPr>
        <p:spPr>
          <a:xfrm>
            <a:off x="723900" y="3238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FIGURE 2 · ANSWER RQ2</a:t>
            </a:r>
            <a:endParaRPr sz="900" b="1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" y="7429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 的结论：SiC 研究从“能不能做”走向“能不能稳定量产与应用”。</a:t>
            </a:r>
            <a:endParaRPr sz="22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239500" y="4000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11</a:t>
            </a:r>
            <a:endParaRPr sz="900" b="0">
              <a:solidFill>
                <a:srgbClr val="64748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" y="1809750"/>
            <a:ext cx="99060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66750" y="1809750"/>
            <a:ext cx="76200" cy="10096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14400" y="196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阶段一</a:t>
            </a:r>
            <a:endParaRPr sz="13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143250" y="1962150"/>
            <a:ext cx="428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基础器件与性能论证是早期核心。</a:t>
            </a:r>
            <a:endParaRPr sz="120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143250" y="2400300"/>
            <a:ext cx="657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关键词通常围绕 SiC、MOSFET、power device、efficiency、switching speed 等展开。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66750" y="3105150"/>
            <a:ext cx="99060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66750" y="3105150"/>
            <a:ext cx="76200" cy="10096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14400" y="32575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阶段二</a:t>
            </a:r>
            <a:endParaRPr sz="13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143250" y="3257550"/>
            <a:ext cx="428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可靠性和封装成为从实验走向工程的关键。</a:t>
            </a:r>
            <a:endParaRPr sz="120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3143250" y="3695700"/>
            <a:ext cx="657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 management、reliability、parasitic inductance、dynamic characterization 等词能解释主题迁移。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66750" y="4400550"/>
            <a:ext cx="99060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66750" y="4400550"/>
            <a:ext cx="76200" cy="10096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14400" y="45529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阶段三</a:t>
            </a:r>
            <a:endParaRPr sz="13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143250" y="4552950"/>
            <a:ext cx="428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系统场景拉动研究问题重新组织。</a:t>
            </a:r>
            <a:endParaRPr sz="120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3143250" y="4991100"/>
            <a:ext cx="657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automotive、renewable energy、medium voltage、power module 等应用词上升，说明研究被产业场景牵引。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143000" y="57721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一句话答案：热点演进的主线是“性能提升 → 可靠性验证 → 系统级应用”。</a:t>
            </a:r>
            <a:endParaRPr sz="16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33400" y="6496050"/>
            <a:ext cx="10191750" cy="9525"/>
          </a:xfrm>
          <a:prstGeom prst="rect">
            <a:avLst/>
          </a:prstGeom>
          <a:solidFill>
            <a:srgbClr val="D9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533400" y="657225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timeline map + annual publication trend.</a:t>
            </a:r>
            <a:endParaRPr sz="675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12-marker"/>
          <p:cNvSpPr>
            <a:spLocks noGrp="1"/>
          </p:cNvSpPr>
          <p:nvPr/>
        </p:nvSpPr>
        <p:spPr>
          <a:xfrm>
            <a:off x="533400" y="419100"/>
            <a:ext cx="95250" cy="952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kicker-12-label"/>
          <p:cNvSpPr>
            <a:spLocks noGrp="1"/>
          </p:cNvSpPr>
          <p:nvPr/>
        </p:nvSpPr>
        <p:spPr>
          <a:xfrm>
            <a:off x="723900" y="3238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FIGURE 3 · AUTHOR NETWORK</a:t>
            </a:r>
            <a:endParaRPr sz="900" b="1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" y="7429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作者合作图回答：领域已有合作核心，但仍需要机构与国家网络补强。</a:t>
            </a:r>
            <a:endParaRPr sz="22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239500" y="4000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12</a:t>
            </a:r>
            <a:endParaRPr sz="900" b="0">
              <a:solidFill>
                <a:srgbClr val="64748B"/>
              </a:solidFill>
              <a:latin typeface="Aptos Mono"/>
              <a:ea typeface="Aptos Mono"/>
              <a:cs typeface="Aptos Mono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550035"/>
            <a:ext cx="7048500" cy="3079115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7905750" y="1676400"/>
            <a:ext cx="3143250" cy="1143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172450" y="18859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详细答案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172450" y="2266950"/>
            <a:ext cx="247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6DE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D6DE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节点大小反映作者活跃度，连线反映合作关系，核心区域说明团队合作已经出现聚集。</a:t>
            </a:r>
            <a:endParaRPr sz="1050" b="0">
              <a:solidFill>
                <a:srgbClr val="D6DE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8096250" y="3305175"/>
            <a:ext cx="66675" cy="66675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267700" y="3219450"/>
            <a:ext cx="2781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如果网络中心明显，说明高产作者之间有稳定协作，利于形成持续研究方向。</a:t>
            </a:r>
            <a:endParaRPr sz="1200" b="0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8096250" y="4200525"/>
            <a:ext cx="66675" cy="66675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267700" y="4114800"/>
            <a:ext cx="2781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如果边缘节点较多，说明领域仍在扩散，新团队进入与跨团队合作空间较大。</a:t>
            </a:r>
            <a:endParaRPr sz="1200" b="0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33400" y="6496050"/>
            <a:ext cx="10191750" cy="9525"/>
          </a:xfrm>
          <a:prstGeom prst="rect">
            <a:avLst/>
          </a:prstGeom>
          <a:solidFill>
            <a:srgbClr val="D9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33400" y="657225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 image: output/作者合作.png.</a:t>
            </a:r>
            <a:endParaRPr sz="675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09600" y="5102860"/>
            <a:ext cx="11235690" cy="632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RQ3 的结论：合作网络可识别推动者，但不能单靠作者图判断学术格局。</a:t>
            </a:r>
            <a:endParaRPr sz="200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E9ED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16-marker"/>
          <p:cNvSpPr>
            <a:spLocks noGrp="1"/>
          </p:cNvSpPr>
          <p:nvPr/>
        </p:nvSpPr>
        <p:spPr>
          <a:xfrm>
            <a:off x="533400" y="419100"/>
            <a:ext cx="95250" cy="952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kicker-16-label"/>
          <p:cNvSpPr>
            <a:spLocks noGrp="1"/>
          </p:cNvSpPr>
          <p:nvPr/>
        </p:nvSpPr>
        <p:spPr>
          <a:xfrm>
            <a:off x="723900" y="3238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INTEGRATED ANSWERS</a:t>
            </a:r>
            <a:endParaRPr sz="900" b="1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" y="7429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</a:t>
            </a:r>
            <a:r>
              <a:rPr lang="zh-CN"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本研究可以给出</a:t>
            </a:r>
            <a:r>
              <a:rPr lang="zh-CN"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</a:t>
            </a:r>
            <a:r>
              <a:rPr sz="22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答案。</a:t>
            </a:r>
            <a:endParaRPr sz="22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239500" y="4000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16</a:t>
            </a:r>
            <a:endParaRPr sz="900" b="0">
              <a:solidFill>
                <a:srgbClr val="64748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" y="1466850"/>
            <a:ext cx="9906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14400" y="1809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RQ1 热点</a:t>
            </a:r>
            <a:endParaRPr sz="13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394585" y="1809750"/>
            <a:ext cx="705040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热点围绕 SiC MOSFET/功率模块，并延伸到可靠性、热管理和应用集成。</a:t>
            </a:r>
            <a:endParaRPr sz="120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882775" y="2247900"/>
            <a:ext cx="78327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依据：关键词聚类图。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66750" y="2819400"/>
            <a:ext cx="9906000" cy="120713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14400" y="29718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 演进</a:t>
            </a:r>
            <a:endParaRPr sz="13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395220" y="2971800"/>
            <a:ext cx="503428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演进路径是“基础性能 → 可靠性验证 → 系统级应用”。</a:t>
            </a:r>
            <a:endParaRPr sz="120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882775" y="3656965"/>
            <a:ext cx="7832725" cy="1924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依据：时间线图与年度发文趋势。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66750" y="4533900"/>
            <a:ext cx="9906000" cy="110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14400" y="4756785"/>
            <a:ext cx="2000250" cy="3949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RQ3 合作</a:t>
            </a:r>
            <a:endParaRPr sz="135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395220" y="4756785"/>
            <a:ext cx="5034280" cy="3943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作者合作网络显示研究力量聚集，但需补机构/国家图谱才能讨论宏观格局。</a:t>
            </a:r>
            <a:endParaRPr sz="1200" b="1">
              <a:solidFill>
                <a:srgbClr val="0B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882140" y="5437505"/>
            <a:ext cx="7833360" cy="2038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依据：作者合作图。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533400" y="6496050"/>
            <a:ext cx="10191750" cy="9525"/>
          </a:xfrm>
          <a:prstGeom prst="rect">
            <a:avLst/>
          </a:prstGeom>
          <a:solidFill>
            <a:srgbClr val="D9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533400" y="657225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Integrated answer based on three figures and one table.</a:t>
            </a:r>
            <a:endParaRPr sz="675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75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项目资源与AI使用说明</a:t>
            </a:r>
            <a:endParaRPr lang="en-US" sz="1100"/>
          </a:p>
        </p:txBody>
      </p:sp>
      <p:sp>
        <p:nvSpPr>
          <p:cNvPr id="1048676" name="AutoShape 4"/>
          <p:cNvSpPr/>
          <p:nvPr/>
        </p:nvSpPr>
        <p:spPr>
          <a:xfrm>
            <a:off x="762000" y="1651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77" name="AutoShape 5"/>
          <p:cNvSpPr/>
          <p:nvPr/>
        </p:nvSpPr>
        <p:spPr>
          <a:xfrm>
            <a:off x="762000" y="1651000"/>
            <a:ext cx="76200" cy="342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pic>
        <p:nvPicPr>
          <p:cNvPr id="209716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1048678" name="AutoShape 7"/>
          <p:cNvSpPr/>
          <p:nvPr/>
        </p:nvSpPr>
        <p:spPr>
          <a:xfrm>
            <a:off x="1524000" y="1879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GitHub 开放项目资源</a:t>
            </a:r>
            <a:endParaRPr lang="en-US" sz="1100"/>
          </a:p>
        </p:txBody>
      </p:sp>
      <p:cxnSp>
        <p:nvCxnSpPr>
          <p:cNvPr id="3145734" name="Connector 8"/>
          <p:cNvCxnSpPr/>
          <p:nvPr/>
        </p:nvCxnSpPr>
        <p:spPr>
          <a:xfrm rot="-9167">
            <a:off x="10160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79" name="AutoShape 9"/>
          <p:cNvSpPr/>
          <p:nvPr/>
        </p:nvSpPr>
        <p:spPr>
          <a:xfrm>
            <a:off x="1016000" y="2730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为践行开放科学理念，本项目所有资源已完整上传至仓库，确保研究过程的透明性与实验结果的可复现性。</a:t>
            </a:r>
            <a:endParaRPr lang="en-US" sz="1100"/>
          </a:p>
        </p:txBody>
      </p:sp>
      <p:sp>
        <p:nvSpPr>
          <p:cNvPr id="1048680" name="AutoShape 10"/>
          <p:cNvSpPr/>
          <p:nvPr/>
        </p:nvSpPr>
        <p:spPr>
          <a:xfrm>
            <a:off x="1016000" y="3810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81" name="AutoShape 11"/>
          <p:cNvSpPr/>
          <p:nvPr/>
        </p:nvSpPr>
        <p:spPr>
          <a:xfrm>
            <a:off x="1143000" y="3937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包含核心目录：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data/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(原始与处理数据)、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(核心代码实现)、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config/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(环境配置)、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results/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(图表数据) 及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report/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(研究报告)。</a:t>
            </a:r>
            <a:endParaRPr lang="en-US" sz="1100"/>
          </a:p>
        </p:txBody>
      </p:sp>
      <p:sp>
        <p:nvSpPr>
          <p:cNvPr id="1048682" name="AutoShape 12"/>
          <p:cNvSpPr/>
          <p:nvPr/>
        </p:nvSpPr>
        <p:spPr>
          <a:xfrm>
            <a:off x="6350000" y="1651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83" name="AutoShape 13"/>
          <p:cNvSpPr/>
          <p:nvPr/>
        </p:nvSpPr>
        <p:spPr>
          <a:xfrm>
            <a:off x="6350000" y="1651000"/>
            <a:ext cx="76200" cy="342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pic>
        <p:nvPicPr>
          <p:cNvPr id="2097166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1905000"/>
            <a:ext cx="355600" cy="355600"/>
          </a:xfrm>
          <a:prstGeom prst="rect">
            <a:avLst/>
          </a:prstGeom>
        </p:spPr>
      </p:pic>
      <p:sp>
        <p:nvSpPr>
          <p:cNvPr id="1048684" name="AutoShape 15"/>
          <p:cNvSpPr/>
          <p:nvPr/>
        </p:nvSpPr>
        <p:spPr>
          <a:xfrm>
            <a:off x="7112000" y="1879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人工智能(AI) 辅助应用</a:t>
            </a:r>
            <a:endParaRPr lang="en-US" sz="1100"/>
          </a:p>
        </p:txBody>
      </p:sp>
      <p:cxnSp>
        <p:nvCxnSpPr>
          <p:cNvPr id="3145735" name="Connector 16"/>
          <p:cNvCxnSpPr/>
          <p:nvPr/>
        </p:nvCxnSpPr>
        <p:spPr>
          <a:xfrm rot="-9167">
            <a:off x="66040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85" name="AutoShape 17"/>
          <p:cNvSpPr/>
          <p:nvPr/>
        </p:nvSpPr>
        <p:spPr>
          <a:xfrm>
            <a:off x="6604000" y="2730500"/>
            <a:ext cx="47625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pic>
        <p:nvPicPr>
          <p:cNvPr id="2097167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2870200"/>
            <a:ext cx="279400" cy="279400"/>
          </a:xfrm>
          <a:prstGeom prst="rect">
            <a:avLst/>
          </a:prstGeom>
        </p:spPr>
      </p:pic>
      <p:sp>
        <p:nvSpPr>
          <p:cNvPr id="1048686" name="AutoShape 19"/>
          <p:cNvSpPr/>
          <p:nvPr/>
        </p:nvSpPr>
        <p:spPr>
          <a:xfrm>
            <a:off x="7112000" y="2794000"/>
            <a:ext cx="4127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代码编写：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利用ChatGPT生成Python框架，经人工严格审阅、修改与逻辑优化，确保代码正确性。</a:t>
            </a:r>
            <a:endParaRPr lang="en-US" sz="1100"/>
          </a:p>
        </p:txBody>
      </p:sp>
      <p:sp>
        <p:nvSpPr>
          <p:cNvPr id="1048687" name="AutoShape 20"/>
          <p:cNvSpPr/>
          <p:nvPr/>
        </p:nvSpPr>
        <p:spPr>
          <a:xfrm>
            <a:off x="6604000" y="3556000"/>
            <a:ext cx="47625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pic>
        <p:nvPicPr>
          <p:cNvPr id="2097168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0" y="3695700"/>
            <a:ext cx="279400" cy="279400"/>
          </a:xfrm>
          <a:prstGeom prst="rect">
            <a:avLst/>
          </a:prstGeom>
        </p:spPr>
      </p:pic>
      <p:sp>
        <p:nvSpPr>
          <p:cNvPr id="1048688" name="AutoShape 22"/>
          <p:cNvSpPr/>
          <p:nvPr/>
        </p:nvSpPr>
        <p:spPr>
          <a:xfrm>
            <a:off x="7112000" y="3619500"/>
            <a:ext cx="4127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文本与检索：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辅助语言润色、内容组织及关键词同义词扩充，核心学术观点与判断均由团队独立产出。</a:t>
            </a:r>
            <a:endParaRPr lang="en-US" sz="1100"/>
          </a:p>
        </p:txBody>
      </p:sp>
      <p:sp>
        <p:nvSpPr>
          <p:cNvPr id="1048689" name="AutoShape 23"/>
          <p:cNvSpPr/>
          <p:nvPr/>
        </p:nvSpPr>
        <p:spPr>
          <a:xfrm>
            <a:off x="762000" y="5461000"/>
            <a:ext cx="10858500" cy="952500"/>
          </a:xfrm>
          <a:prstGeom prst="roundRect">
            <a:avLst>
              <a:gd name="adj" fmla="val 0"/>
            </a:avLst>
          </a:prstGeom>
          <a:solidFill>
            <a:srgbClr val="2DD4B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pic>
        <p:nvPicPr>
          <p:cNvPr id="2097169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5651500"/>
            <a:ext cx="304800" cy="304800"/>
          </a:xfrm>
          <a:prstGeom prst="rect">
            <a:avLst/>
          </a:prstGeom>
        </p:spPr>
      </p:pic>
      <p:sp>
        <p:nvSpPr>
          <p:cNvPr id="1048690" name="AutoShape 25"/>
          <p:cNvSpPr/>
          <p:nvPr/>
        </p:nvSpPr>
        <p:spPr>
          <a:xfrm>
            <a:off x="1524000" y="5613400"/>
            <a:ext cx="977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重要声明：</a:t>
            </a:r>
            <a:r>
              <a:rPr lang="en-US" sz="1400" b="0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本研究的所有核心学术判断、图表解读、实验设计与结论推导均由人主导完成，AI工具仅作为提升效率的辅助手段，不参与任何关键决策过程。</a:t>
            </a:r>
            <a:endParaRPr lang="en-US" sz="1100"/>
          </a:p>
        </p:txBody>
      </p:sp>
      <p:sp>
        <p:nvSpPr>
          <p:cNvPr id="2" name="文本框 1"/>
          <p:cNvSpPr txBox="1"/>
          <p:nvPr/>
        </p:nvSpPr>
        <p:spPr>
          <a:xfrm>
            <a:off x="7691120" y="578485"/>
            <a:ext cx="3912870" cy="793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latin typeface="Aptos Mono"/>
                <a:ea typeface="Aptos Mono"/>
                <a:cs typeface="Aptos Mono"/>
                <a:sym typeface="+mn-ea"/>
              </a:rPr>
              <a:t>https://github.com/whe-ex/class</a:t>
            </a:r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  <a:latin typeface="Aptos Mono"/>
              <a:ea typeface="Aptos Mono"/>
              <a:cs typeface="Aptos Mono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98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组员分工与项目亮点</a:t>
            </a:r>
            <a:endParaRPr lang="en-US" sz="1100"/>
          </a:p>
        </p:txBody>
      </p:sp>
      <p:cxnSp>
        <p:nvCxnSpPr>
          <p:cNvPr id="3145736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99" name="AutoShape 5"/>
          <p:cNvSpPr/>
          <p:nvPr/>
        </p:nvSpPr>
        <p:spPr>
          <a:xfrm>
            <a:off x="762000" y="1778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00" name="AutoShape 6"/>
          <p:cNvSpPr/>
          <p:nvPr/>
        </p:nvSpPr>
        <p:spPr>
          <a:xfrm>
            <a:off x="762000" y="1778000"/>
            <a:ext cx="508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01" name="AutoShape 7"/>
          <p:cNvSpPr/>
          <p:nvPr/>
        </p:nvSpPr>
        <p:spPr>
          <a:xfrm>
            <a:off x="952500" y="1879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林能行 </a:t>
            </a:r>
            <a:endParaRPr lang="en-US" sz="1100"/>
          </a:p>
        </p:txBody>
      </p:sp>
      <p:cxnSp>
        <p:nvCxnSpPr>
          <p:cNvPr id="3145737" name="Connector 8"/>
          <p:cNvCxnSpPr/>
          <p:nvPr>
            <p:custDataLst>
              <p:tags r:id="rId2"/>
            </p:custDataLst>
          </p:nvPr>
        </p:nvCxnSpPr>
        <p:spPr>
          <a:xfrm rot="-18093">
            <a:off x="952517" y="22796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48702" name="AutoShape 9"/>
          <p:cNvSpPr/>
          <p:nvPr/>
        </p:nvSpPr>
        <p:spPr>
          <a:xfrm>
            <a:off x="952500" y="2413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负责项目统筹规划、整体进度管理及最终研究报告的内容整合与定稿工作，把控项目方向。</a:t>
            </a:r>
            <a:endParaRPr lang="en-US" sz="1100"/>
          </a:p>
        </p:txBody>
      </p:sp>
      <p:sp>
        <p:nvSpPr>
          <p:cNvPr id="1048703" name="AutoShape 10"/>
          <p:cNvSpPr/>
          <p:nvPr/>
        </p:nvSpPr>
        <p:spPr>
          <a:xfrm>
            <a:off x="3683000" y="1778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04" name="AutoShape 11"/>
          <p:cNvSpPr/>
          <p:nvPr/>
        </p:nvSpPr>
        <p:spPr>
          <a:xfrm>
            <a:off x="3683000" y="1778000"/>
            <a:ext cx="508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05" name="AutoShape 12"/>
          <p:cNvSpPr/>
          <p:nvPr/>
        </p:nvSpPr>
        <p:spPr>
          <a:xfrm>
            <a:off x="3873500" y="1879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潘儒凤 </a:t>
            </a:r>
            <a:endParaRPr lang="en-US" sz="1100"/>
          </a:p>
        </p:txBody>
      </p:sp>
      <p:cxnSp>
        <p:nvCxnSpPr>
          <p:cNvPr id="3145738" name="Connector 13"/>
          <p:cNvCxnSpPr/>
          <p:nvPr>
            <p:custDataLst>
              <p:tags r:id="rId3"/>
            </p:custDataLst>
          </p:nvPr>
        </p:nvCxnSpPr>
        <p:spPr>
          <a:xfrm rot="-18093">
            <a:off x="3873517" y="22796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48706" name="AutoShape 14"/>
          <p:cNvSpPr/>
          <p:nvPr>
            <p:custDataLst>
              <p:tags r:id="rId4"/>
            </p:custDataLst>
          </p:nvPr>
        </p:nvSpPr>
        <p:spPr>
          <a:xfrm>
            <a:off x="3873500" y="2413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主导检索策略的设计与优化，筛选核心文献数据库，完成研究数据的初步获取与范围界定。</a:t>
            </a:r>
            <a:endParaRPr lang="en-US" sz="1100"/>
          </a:p>
        </p:txBody>
      </p:sp>
      <p:sp>
        <p:nvSpPr>
          <p:cNvPr id="1048707" name="AutoShape 15"/>
          <p:cNvSpPr/>
          <p:nvPr>
            <p:custDataLst>
              <p:tags r:id="rId5"/>
            </p:custDataLst>
          </p:nvPr>
        </p:nvSpPr>
        <p:spPr>
          <a:xfrm>
            <a:off x="762000" y="3492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08" name="AutoShape 16"/>
          <p:cNvSpPr/>
          <p:nvPr/>
        </p:nvSpPr>
        <p:spPr>
          <a:xfrm>
            <a:off x="762000" y="3492500"/>
            <a:ext cx="508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09" name="AutoShape 17"/>
          <p:cNvSpPr/>
          <p:nvPr/>
        </p:nvSpPr>
        <p:spPr>
          <a:xfrm>
            <a:off x="952500" y="35941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毛俊钦 </a:t>
            </a:r>
            <a:endParaRPr lang="en-US" sz="1100"/>
          </a:p>
        </p:txBody>
      </p:sp>
      <p:cxnSp>
        <p:nvCxnSpPr>
          <p:cNvPr id="3145739" name="Connector 18"/>
          <p:cNvCxnSpPr/>
          <p:nvPr>
            <p:custDataLst>
              <p:tags r:id="rId6"/>
            </p:custDataLst>
          </p:nvPr>
        </p:nvCxnSpPr>
        <p:spPr>
          <a:xfrm rot="-18093">
            <a:off x="952517" y="39941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48710" name="AutoShape 19"/>
          <p:cNvSpPr/>
          <p:nvPr>
            <p:custDataLst>
              <p:tags r:id="rId7"/>
            </p:custDataLst>
          </p:nvPr>
        </p:nvSpPr>
        <p:spPr>
          <a:xfrm>
            <a:off x="952500" y="4127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执行文献数据的人工初步筛选，去除重复记录与低相关文献，并统一数据格式与字段规范。</a:t>
            </a:r>
            <a:endParaRPr lang="en-US" sz="1100"/>
          </a:p>
        </p:txBody>
      </p:sp>
      <p:sp>
        <p:nvSpPr>
          <p:cNvPr id="1048711" name="AutoShape 20"/>
          <p:cNvSpPr/>
          <p:nvPr/>
        </p:nvSpPr>
        <p:spPr>
          <a:xfrm>
            <a:off x="3683000" y="3492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12" name="AutoShape 21"/>
          <p:cNvSpPr/>
          <p:nvPr/>
        </p:nvSpPr>
        <p:spPr>
          <a:xfrm>
            <a:off x="3683000" y="3492500"/>
            <a:ext cx="508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13" name="AutoShape 22"/>
          <p:cNvSpPr/>
          <p:nvPr/>
        </p:nvSpPr>
        <p:spPr>
          <a:xfrm>
            <a:off x="3873500" y="35941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李炫浒</a:t>
            </a:r>
            <a:endParaRPr lang="en-US" sz="1100"/>
          </a:p>
        </p:txBody>
      </p:sp>
      <p:cxnSp>
        <p:nvCxnSpPr>
          <p:cNvPr id="3145740" name="Connector 23"/>
          <p:cNvCxnSpPr/>
          <p:nvPr>
            <p:custDataLst>
              <p:tags r:id="rId8"/>
            </p:custDataLst>
          </p:nvPr>
        </p:nvCxnSpPr>
        <p:spPr>
          <a:xfrm rot="-18093">
            <a:off x="3873517" y="39941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48714" name="AutoShape 24"/>
          <p:cNvSpPr/>
          <p:nvPr/>
        </p:nvSpPr>
        <p:spPr>
          <a:xfrm>
            <a:off x="3873500" y="4127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编写自动化数据清洗脚本，处理缺失值与异常数据，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</a:t>
            </a:r>
            <a:r>
              <a:rPr lang="en-US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</a:t>
            </a:r>
            <a:r>
              <a:rPr lang="en-US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汇总</a:t>
            </a:r>
            <a:r>
              <a:rPr lang="en-US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以及</a:t>
            </a:r>
            <a:r>
              <a:rPr lang="en-US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制作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048715" name="AutoShape 25"/>
          <p:cNvSpPr/>
          <p:nvPr/>
        </p:nvSpPr>
        <p:spPr>
          <a:xfrm>
            <a:off x="762000" y="5207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16" name="AutoShape 26"/>
          <p:cNvSpPr/>
          <p:nvPr/>
        </p:nvSpPr>
        <p:spPr>
          <a:xfrm>
            <a:off x="762000" y="5207000"/>
            <a:ext cx="508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17" name="AutoShape 27"/>
          <p:cNvSpPr/>
          <p:nvPr/>
        </p:nvSpPr>
        <p:spPr>
          <a:xfrm>
            <a:off x="952500" y="5308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张博</a:t>
            </a:r>
            <a:endParaRPr lang="en-US" sz="1100"/>
          </a:p>
        </p:txBody>
      </p:sp>
      <p:cxnSp>
        <p:nvCxnSpPr>
          <p:cNvPr id="3145741" name="Connector 28"/>
          <p:cNvCxnSpPr/>
          <p:nvPr>
            <p:custDataLst>
              <p:tags r:id="rId9"/>
            </p:custDataLst>
          </p:nvPr>
        </p:nvCxnSpPr>
        <p:spPr>
          <a:xfrm rot="-18093">
            <a:off x="952517" y="57086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48718" name="AutoShape 29"/>
          <p:cNvSpPr/>
          <p:nvPr>
            <p:custDataLst>
              <p:tags r:id="rId10"/>
            </p:custDataLst>
          </p:nvPr>
        </p:nvSpPr>
        <p:spPr>
          <a:xfrm>
            <a:off x="952500" y="58166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运用CiteSpace与VOSviewer进行知识图谱可视化，结合Python完成文献数据的定量统计分析。</a:t>
            </a:r>
            <a:endParaRPr lang="en-US" sz="1100"/>
          </a:p>
        </p:txBody>
      </p:sp>
      <p:sp>
        <p:nvSpPr>
          <p:cNvPr id="1048719" name="AutoShape 30"/>
          <p:cNvSpPr/>
          <p:nvPr/>
        </p:nvSpPr>
        <p:spPr>
          <a:xfrm>
            <a:off x="3683000" y="5207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20" name="AutoShape 31"/>
          <p:cNvSpPr/>
          <p:nvPr/>
        </p:nvSpPr>
        <p:spPr>
          <a:xfrm>
            <a:off x="3683000" y="5207000"/>
            <a:ext cx="508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21" name="AutoShape 32"/>
          <p:cNvSpPr/>
          <p:nvPr/>
        </p:nvSpPr>
        <p:spPr>
          <a:xfrm>
            <a:off x="3873500" y="5308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刘硕</a:t>
            </a:r>
            <a:endParaRPr lang="en-US" sz="1100"/>
          </a:p>
        </p:txBody>
      </p:sp>
      <p:cxnSp>
        <p:nvCxnSpPr>
          <p:cNvPr id="3145742" name="Connector 33"/>
          <p:cNvCxnSpPr/>
          <p:nvPr>
            <p:custDataLst>
              <p:tags r:id="rId11"/>
            </p:custDataLst>
          </p:nvPr>
        </p:nvCxnSpPr>
        <p:spPr>
          <a:xfrm rot="-18093">
            <a:off x="3873517" y="57086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48722" name="AutoShape 34"/>
          <p:cNvSpPr/>
          <p:nvPr/>
        </p:nvSpPr>
        <p:spPr>
          <a:xfrm>
            <a:off x="3873500" y="58166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负责对分析结果进行深度解读与讨论，</a:t>
            </a:r>
            <a:r>
              <a:rPr lang="en-US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提取核心</a:t>
            </a:r>
            <a:r>
              <a:rPr lang="en-US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</a:t>
            </a:r>
            <a:r>
              <a:rPr lang="en-US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撰写演示文稿内容。</a:t>
            </a:r>
            <a:endParaRPr lang="en-US" sz="1100"/>
          </a:p>
        </p:txBody>
      </p:sp>
      <p:cxnSp>
        <p:nvCxnSpPr>
          <p:cNvPr id="3145743" name="Connector 35"/>
          <p:cNvCxnSpPr/>
          <p:nvPr/>
        </p:nvCxnSpPr>
        <p:spPr>
          <a:xfrm rot="5390832">
            <a:off x="4349750" y="4152908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48723" name="AutoShape 36"/>
          <p:cNvSpPr/>
          <p:nvPr/>
        </p:nvSpPr>
        <p:spPr>
          <a:xfrm>
            <a:off x="6985000" y="1778000"/>
            <a:ext cx="44450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pic>
        <p:nvPicPr>
          <p:cNvPr id="2097170" name="Picture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5500" y="1968500"/>
            <a:ext cx="406400" cy="406400"/>
          </a:xfrm>
          <a:prstGeom prst="rect">
            <a:avLst/>
          </a:prstGeom>
        </p:spPr>
      </p:pic>
      <p:sp>
        <p:nvSpPr>
          <p:cNvPr id="1048724" name="AutoShape 38"/>
          <p:cNvSpPr/>
          <p:nvPr/>
        </p:nvSpPr>
        <p:spPr>
          <a:xfrm>
            <a:off x="7747000" y="19304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可复现的工程化流程</a:t>
            </a:r>
            <a:endParaRPr lang="en-US" sz="1100"/>
          </a:p>
        </p:txBody>
      </p:sp>
      <p:cxnSp>
        <p:nvCxnSpPr>
          <p:cNvPr id="3145744" name="Connector 39"/>
          <p:cNvCxnSpPr/>
          <p:nvPr/>
        </p:nvCxnSpPr>
        <p:spPr>
          <a:xfrm rot="-10742">
            <a:off x="7175510" y="2533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725" name="AutoShape 40"/>
          <p:cNvSpPr/>
          <p:nvPr/>
        </p:nvSpPr>
        <p:spPr>
          <a:xfrm>
            <a:off x="7175500" y="2667000"/>
            <a:ext cx="406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采用软件工程思想构建标准化项目目录，规范每一步操作与参数设置，实现研究过程的完全透明和结果的一键复现。</a:t>
            </a:r>
            <a:endParaRPr lang="en-US" sz="1100"/>
          </a:p>
        </p:txBody>
      </p:sp>
      <p:sp>
        <p:nvSpPr>
          <p:cNvPr id="1048726" name="AutoShape 41"/>
          <p:cNvSpPr/>
          <p:nvPr/>
        </p:nvSpPr>
        <p:spPr>
          <a:xfrm>
            <a:off x="6985000" y="3492500"/>
            <a:ext cx="44450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pic>
        <p:nvPicPr>
          <p:cNvPr id="2097171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5500" y="3683000"/>
            <a:ext cx="406400" cy="406400"/>
          </a:xfrm>
          <a:prstGeom prst="rect">
            <a:avLst/>
          </a:prstGeom>
        </p:spPr>
      </p:pic>
      <p:sp>
        <p:nvSpPr>
          <p:cNvPr id="1048727" name="AutoShape 43"/>
          <p:cNvSpPr/>
          <p:nvPr/>
        </p:nvSpPr>
        <p:spPr>
          <a:xfrm>
            <a:off x="7747000" y="36449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定性与定量相结合的分析范式</a:t>
            </a:r>
            <a:endParaRPr lang="en-US" sz="1100"/>
          </a:p>
        </p:txBody>
      </p:sp>
      <p:cxnSp>
        <p:nvCxnSpPr>
          <p:cNvPr id="3145745" name="Connector 44"/>
          <p:cNvCxnSpPr/>
          <p:nvPr/>
        </p:nvCxnSpPr>
        <p:spPr>
          <a:xfrm rot="-10742">
            <a:off x="7175510" y="4248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728" name="AutoShape 45"/>
          <p:cNvSpPr/>
          <p:nvPr/>
        </p:nvSpPr>
        <p:spPr>
          <a:xfrm>
            <a:off x="7175500" y="4381500"/>
            <a:ext cx="406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融合CiteSpace知识图谱的可视化探索与Python的精准定量统计，让定性洞察与定量数据相互印证，结论更严谨可信。</a:t>
            </a:r>
            <a:endParaRPr lang="en-US" sz="1100"/>
          </a:p>
        </p:txBody>
      </p:sp>
      <p:sp>
        <p:nvSpPr>
          <p:cNvPr id="1048729" name="AutoShape 46"/>
          <p:cNvSpPr/>
          <p:nvPr/>
        </p:nvSpPr>
        <p:spPr>
          <a:xfrm>
            <a:off x="6985000" y="5207000"/>
            <a:ext cx="44450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pic>
        <p:nvPicPr>
          <p:cNvPr id="2097172" name="Picture 4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5500" y="5397500"/>
            <a:ext cx="406400" cy="406400"/>
          </a:xfrm>
          <a:prstGeom prst="rect">
            <a:avLst/>
          </a:prstGeom>
        </p:spPr>
      </p:pic>
      <p:sp>
        <p:nvSpPr>
          <p:cNvPr id="1048730" name="AutoShape 48"/>
          <p:cNvSpPr/>
          <p:nvPr/>
        </p:nvSpPr>
        <p:spPr>
          <a:xfrm>
            <a:off x="7747000" y="53594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可复用的通用研究框架</a:t>
            </a:r>
            <a:endParaRPr lang="en-US" sz="1100"/>
          </a:p>
        </p:txBody>
      </p:sp>
      <p:cxnSp>
        <p:nvCxnSpPr>
          <p:cNvPr id="3145746" name="Connector 49"/>
          <p:cNvCxnSpPr/>
          <p:nvPr/>
        </p:nvCxnSpPr>
        <p:spPr>
          <a:xfrm rot="-10742">
            <a:off x="7175510" y="5835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731" name="AutoShape 50"/>
          <p:cNvSpPr/>
          <p:nvPr/>
        </p:nvSpPr>
        <p:spPr>
          <a:xfrm>
            <a:off x="7175500" y="59436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整套分析流程、代码工具及文档规范具有高度通用性，可无缝迁移至其他技术领域的文献计量与知识图谱分析项目。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2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3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4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5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6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7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8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9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10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11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12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13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14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15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16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17.xml><?xml version="1.0" encoding="utf-8"?>
<p:tagLst xmlns:p="http://schemas.openxmlformats.org/presentationml/2006/main">
  <p:tag name="KSO_WM_DIAGRAM_VIRTUALLY_FRAME" val="{&quot;height&quot;:540,&quot;left&quot;:634.5,&quot;top&quot;:0,&quot;width&quot;:232.5}"/>
</p:tagLst>
</file>

<file path=ppt/tags/tag18.xml><?xml version="1.0" encoding="utf-8"?>
<p:tagLst xmlns:p="http://schemas.openxmlformats.org/presentationml/2006/main">
  <p:tag name="KSO_WM_DIAGRAM_VIRTUALLY_FRAME" val="{&quot;height&quot;:385,&quot;left&quot;:60,&quot;top&quot;:140,&quot;width&quot;:445}"/>
</p:tagLst>
</file>

<file path=ppt/tags/tag19.xml><?xml version="1.0" encoding="utf-8"?>
<p:tagLst xmlns:p="http://schemas.openxmlformats.org/presentationml/2006/main">
  <p:tag name="KSO_WM_DIAGRAM_VIRTUALLY_FRAME" val="{&quot;height&quot;:385,&quot;left&quot;:60,&quot;top&quot;:140,&quot;width&quot;:445}"/>
</p:tagLst>
</file>

<file path=ppt/tags/tag20.xml><?xml version="1.0" encoding="utf-8"?>
<p:tagLst xmlns:p="http://schemas.openxmlformats.org/presentationml/2006/main">
  <p:tag name="KSO_WM_DIAGRAM_VIRTUALLY_FRAME" val="{&quot;height&quot;:385,&quot;left&quot;:60,&quot;top&quot;:140,&quot;width&quot;:445}"/>
</p:tagLst>
</file>

<file path=ppt/tags/tag21.xml><?xml version="1.0" encoding="utf-8"?>
<p:tagLst xmlns:p="http://schemas.openxmlformats.org/presentationml/2006/main">
  <p:tag name="KSO_WM_DIAGRAM_VIRTUALLY_FRAME" val="{&quot;height&quot;:385,&quot;left&quot;:60,&quot;top&quot;:140,&quot;width&quot;:445}"/>
</p:tagLst>
</file>

<file path=ppt/tags/tag22.xml><?xml version="1.0" encoding="utf-8"?>
<p:tagLst xmlns:p="http://schemas.openxmlformats.org/presentationml/2006/main">
  <p:tag name="KSO_WM_DIAGRAM_VIRTUALLY_FRAME" val="{&quot;height&quot;:385,&quot;left&quot;:60,&quot;top&quot;:140,&quot;width&quot;:445}"/>
</p:tagLst>
</file>

<file path=ppt/tags/tag23.xml><?xml version="1.0" encoding="utf-8"?>
<p:tagLst xmlns:p="http://schemas.openxmlformats.org/presentationml/2006/main">
  <p:tag name="KSO_WM_DIAGRAM_VIRTUALLY_FRAME" val="{&quot;height&quot;:385,&quot;left&quot;:60,&quot;top&quot;:140,&quot;width&quot;:445}"/>
</p:tagLst>
</file>

<file path=ppt/tags/tag24.xml><?xml version="1.0" encoding="utf-8"?>
<p:tagLst xmlns:p="http://schemas.openxmlformats.org/presentationml/2006/main">
  <p:tag name="KSO_WM_DIAGRAM_VIRTUALLY_FRAME" val="{&quot;height&quot;:385,&quot;left&quot;:60,&quot;top&quot;:140,&quot;width&quot;:445}"/>
</p:tagLst>
</file>

<file path=ppt/tags/tag25.xml><?xml version="1.0" encoding="utf-8"?>
<p:tagLst xmlns:p="http://schemas.openxmlformats.org/presentationml/2006/main">
  <p:tag name="KSO_WM_DIAGRAM_VIRTUALLY_FRAME" val="{&quot;height&quot;:385,&quot;left&quot;:60,&quot;top&quot;:140,&quot;width&quot;:445}"/>
</p:tagLst>
</file>

<file path=ppt/tags/tag26.xml><?xml version="1.0" encoding="utf-8"?>
<p:tagLst xmlns:p="http://schemas.openxmlformats.org/presentationml/2006/main">
  <p:tag name="KSO_WM_DIAGRAM_VIRTUALLY_FRAME" val="{&quot;height&quot;:385,&quot;left&quot;:60,&quot;top&quot;:140,&quot;width&quot;:445}"/>
</p:tagLst>
</file>

<file path=ppt/tags/tag27.xml><?xml version="1.0" encoding="utf-8"?>
<p:tagLst xmlns:p="http://schemas.openxmlformats.org/presentationml/2006/main">
  <p:tag name="KSO_WM_DIAGRAM_VIRTUALLY_FRAME" val="{&quot;height&quot;:385,&quot;left&quot;:60,&quot;top&quot;:140,&quot;width&quot;:44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2912</Words>
  <Application>WPS 演示</Application>
  <PresentationFormat/>
  <Paragraphs>237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Aptos</vt:lpstr>
      <vt:lpstr>Segoe UI</vt:lpstr>
      <vt:lpstr>微软雅黑</vt:lpstr>
      <vt:lpstr>Aptos Mono</vt:lpstr>
      <vt:lpstr>Aptos Display</vt:lpstr>
      <vt:lpstr>Cascadia Mono SemiLight</vt:lpstr>
      <vt:lpstr>Arial Unicode MS</vt:lpstr>
      <vt:lpstr>Segoe UI Variable Display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V2405A</dc:creator>
  <cp:lastModifiedBy>星芒</cp:lastModifiedBy>
  <cp:revision>3</cp:revision>
  <dcterms:created xsi:type="dcterms:W3CDTF">2026-06-17T12:29:00Z</dcterms:created>
  <dcterms:modified xsi:type="dcterms:W3CDTF">2026-06-17T12:30:23Z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{"Label":"1","ContentProducer":"001191110102MACQD9K64010000","ProduceID":"7651163524833086395","ReservedCode1":"","ContentPropagator":"","PropagateID":"","ReservedCode2":""}</vt:lpwstr>
  </property>
  <property fmtid="{D5CDD505-2E9C-101B-9397-08002B2CF9AE}" pid="3" name="ICV">
    <vt:lpwstr>6ED7B709B3CE4C7280AA9E7C36A85B18_13</vt:lpwstr>
  </property>
  <property fmtid="{D5CDD505-2E9C-101B-9397-08002B2CF9AE}" pid="4" name="KSOProductBuildVer">
    <vt:lpwstr>2052-12.1.0.26895</vt:lpwstr>
  </property>
</Properties>
</file>